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2.svg" ContentType="image/svg+xml"/>
  <Override PartName="/ppt/media/image65.svg" ContentType="image/svg+xml"/>
  <Override PartName="/ppt/media/image70.svg" ContentType="image/svg+xml"/>
  <Override PartName="/ppt/media/image72.svg" ContentType="image/svg+xml"/>
  <Override PartName="/ppt/media/image76.svg" ContentType="image/svg+xml"/>
  <Override PartName="/ppt/media/image78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7"/>
  </p:notesMasterIdLst>
  <p:sldIdLst>
    <p:sldId id="274" r:id="rId5"/>
    <p:sldId id="258" r:id="rId6"/>
    <p:sldId id="259" r:id="rId8"/>
    <p:sldId id="260" r:id="rId9"/>
    <p:sldId id="261" r:id="rId10"/>
    <p:sldId id="262" r:id="rId11"/>
    <p:sldId id="275" r:id="rId12"/>
    <p:sldId id="263" r:id="rId13"/>
    <p:sldId id="264" r:id="rId14"/>
    <p:sldId id="265" r:id="rId15"/>
    <p:sldId id="266" r:id="rId16"/>
    <p:sldId id="267" r:id="rId17"/>
    <p:sldId id="268" r:id="rId18"/>
    <p:sldId id="257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2" userDrawn="1">
          <p15:clr>
            <a:srgbClr val="747775"/>
          </p15:clr>
        </p15:guide>
        <p15:guide id="2" pos="277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2"/>
        <p:guide pos="277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源于对现实问题的深刻洞察。从“邵医生坠楼案”到“粉发女孩网暴案”，我们看到社交媒体上的情绪失控可能带来毁灭性的后果。传统的舆情监测方法已经过时，无法满足当前网络治理的需求。因此，我们的核心目标是三重的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首先是研究层面，结合心理学与AI探索情绪传播规律；其次是产品层面，打造“知舆”系统提供精准预警与干预；最后在社会层面，实现从“管控”到“护航”的治理理念升级，真正保护每一位用户。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市场存在明显的痛点。一方面，现有技术和理论无法深入理解复杂的网络情绪；另一方面，高昂的成本将绝大多数用户挡在门外。无论是个体网民、中小自媒体，还是企业和平台，都迫切需要一个更智能、更普惠、更具人文关怀的解决方案。这正是我们“知舆”系统要切入的市场空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用户非常明确。核心是中小型自媒体和广大的个体网民，他们是情绪传播的关键节点和基础单元，也是最需要帮助的群体。同时，我们的系统也能为企业和社交平台提供专业的解决方案。通过服务好核心用户，我们可以构建一个从个体到平台的完整服务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市场上的主流竞品进行了深入分析。这些传统舆情系统功能强大，但普遍存在成本高、服务对象单一、缺乏深度洞察等问题。相比之下，“知舆”的差异化优势在于：我们不仅有技术深度，更重要的是我们独特的用户定位和服务模式。我们不是要取代它们，而是要填补市场空白，为更广泛的用户群体提供从监测到陪伴的全链条情绪护航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“知舆”智能系统。它构建了一个“事前-事中-事后”的全链条服务闭环。事前，帮助用户预测风险、优化内容；事中，实时监测舆情，提前预警；事后，通过AI心理助手提供安抚，并给出应对策略。这套完整的解决方案，真正实现了从被动应对到主动预防的转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“知舆”智能系统。它构建了一个“事前-事中-事后”的全链条服务闭环。事前，帮助用户预测风险、优化内容；事中，实时监测舆情，提前预警；事后，通过AI心理助手提供安抚，并给出应对策略。这套完整的解决方案，真正实现了从被动应对到主动预防的转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架构是项目的核心竞争力。我们融合了多模态技术、先进的NLP模型和预测算法，实现了对内容的深度理解和趋势预测。更重要的是，我们将社会心理学理论和法律框架融入系统设计，这使得我们的分析不仅有技术深度，更有理论高度和人文关怀，确保了系统的科学性和合规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清晰地展示了我们系统的完整工作流程。从用户创作内容开始，系统就介入进行风险评估；内容发布后，系统实时监测并提供超前预警；一旦危机发生，系统将立即启动干预机制，提供心理支持和应对策略，并最终生成复盘报告。整个流程形成了一个智能、高效、闭环的服务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创新主要体现在三个方面。首先，我们实现了真正的多模态深度分析，能够理解文字之外的情感信息。其次，我们构建了实时动态反馈机制，能够精准预测舆情走向。最核心的创新在于，我们将心理学理论与大模型技术相结合，实现了对用户深层心理动因的量化分析，这是现有系统所不具备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设计和应用层面，我们同样追求创新。我们的APP设计简约易用，并创造了可爱的智能助手“知知”，它不仅是工具，更是用户的伙伴。我们的应用创新在于，我们彻底改变了行业的服务理念，从过去冷冰冰的“舆情监测”，转变为充满人文关怀的“个体情绪护航”，构建了一个智能化的全链条预防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清晰且可持续的商业模式。通过“免费+VIP订阅+企业定制”的三级递进模式，我们可以实现从用户引流到商业变现的平滑过渡。同时，我们还规划了平台生态赋能模式，将我们的核心技术能力输出给主流社交平台，实现更大范围的价值和共赢。这个模式确保了项目的长期发展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项目制定了详细的实施计划，总周期为7个月。第一阶段，我们将快速搭建MVP，验证核心技术和产品思路。第二阶段，我们将深化模型开发，构建完整的系统功能。第三阶段，我们将集成AI助手并进行全面测试，最终完成项目。整个计划目标明确，节奏紧凑，确保项目能够按时高质量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团队是一支跨学科的复合型团队。项目负责人彭智贤，具备扎实的AI技术背景和项目管理能力。核心成员分别来自电子信息、网络新媒体等专业，在技术、心理学、法律等领域各有所长。我们的指导教师祁婷老师和郭凯老师，为项目提供了强有力的学术和技术支持。这种跨学科的组合，是我们项目成功的关键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顺利推进，我们进行了明确的团队分工。彭智贤作为项目负责人，统筹全局并负责前端开发。陈姿璇负责后端和算法核心。沈彤负责心理学理论和用户研究。张靖涵则保障项目的法律合规性。每个人各司其职，紧密协作，形成了一个高效的战斗团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并非空中楼阁，而是建立在坚实的基础之上。技术上，我们依托成熟的AI框架和实验室的高性能计算资源。理论上，我们有扎实的心理学和传播学理论支撑。法律上，我们已经完成了合规性评估。更重要的是，我们通过初步的用户调研，验证了产品的市场需求。这些都为项目的成功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预期项目将取得丰富的成果。在学术上，我们将产出一份高质量的研究报告，系统阐述群体情绪传播的规律和我们的干预思路。在产品上，我们将交付一个功能完整、体验流畅的“知舆”APP，作为研究成果落地的载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，我们相信这个项目具有巨大的潜在价值：它不仅能为网络治理提供新工具，辅助管理者决策；更能直接服务大众，提升公众的数字素养和心理健康，构建健康的网络环境；同时，项目探索的可持续商业模式，也让其具备良好的市场前景和社会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而言，我们的项目凭借跨学科创新、技术深度、用户导向和清晰的商业模式，具备解决真实社会问题的潜力。展望未来，我们将持续进行技术迭代和功能扩展，与更多平台合作构建生态，最终为建设清朗网络空间和推进“健康中国”战略贡献我们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我的汇报到此结束。再次感谢各位评委老师的耐心聆听，我们热切期待您的宝贵意见和建议。谢谢大家！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2.png"/><Relationship Id="rId12" Type="http://schemas.openxmlformats.org/officeDocument/2006/relationships/tags" Target="../tags/tag1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tags" Target="../tags/tag4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image" Target="../media/image43.svg"/><Relationship Id="rId26" Type="http://schemas.openxmlformats.org/officeDocument/2006/relationships/image" Target="../media/image42.png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image" Target="../media/image41.svg"/><Relationship Id="rId2" Type="http://schemas.openxmlformats.org/officeDocument/2006/relationships/tags" Target="../tags/tag2.xml"/><Relationship Id="rId19" Type="http://schemas.openxmlformats.org/officeDocument/2006/relationships/image" Target="../media/image40.png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45.jpe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44.jpeg"/><Relationship Id="rId2" Type="http://schemas.openxmlformats.org/officeDocument/2006/relationships/tags" Target="../tags/tag2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3.xml"/><Relationship Id="rId15" Type="http://schemas.openxmlformats.org/officeDocument/2006/relationships/image" Target="../media/image47.jpeg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46.jpeg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36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image" Target="../media/image65.svg"/><Relationship Id="rId18" Type="http://schemas.openxmlformats.org/officeDocument/2006/relationships/image" Target="../media/image64.png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6.jpeg"/><Relationship Id="rId12" Type="http://schemas.openxmlformats.org/officeDocument/2006/relationships/image" Target="../media/image50.png"/><Relationship Id="rId11" Type="http://schemas.openxmlformats.org/officeDocument/2006/relationships/tags" Target="../tags/tag55.xml"/><Relationship Id="rId10" Type="http://schemas.openxmlformats.org/officeDocument/2006/relationships/image" Target="../media/image20.svg"/><Relationship Id="rId1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7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3.jpe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6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37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9.jpeg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image" Target="../media/image74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87.svg"/><Relationship Id="rId4" Type="http://schemas.openxmlformats.org/officeDocument/2006/relationships/image" Target="../media/image86.png"/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image" Target="../media/image8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12830809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03"/>
          <a:stretch>
            <a:fillRect/>
          </a:stretch>
        </p:blipFill>
        <p:spPr>
          <a:xfrm>
            <a:off x="635" y="0"/>
            <a:ext cx="12191365" cy="696849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0" y="0"/>
            <a:ext cx="12192000" cy="696849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113" name="组合 112"/>
          <p:cNvGrpSpPr/>
          <p:nvPr/>
        </p:nvGrpSpPr>
        <p:grpSpPr>
          <a:xfrm>
            <a:off x="34925" y="-137160"/>
            <a:ext cx="6459220" cy="1556385"/>
            <a:chOff x="584714" y="528745"/>
            <a:chExt cx="3240536" cy="750944"/>
          </a:xfrm>
        </p:grpSpPr>
        <p:sp>
          <p:nvSpPr>
            <p:cNvPr id="114" name="矩形 113"/>
            <p:cNvSpPr/>
            <p:nvPr/>
          </p:nvSpPr>
          <p:spPr>
            <a:xfrm>
              <a:off x="1165862" y="794894"/>
              <a:ext cx="2659388" cy="218646"/>
            </a:xfrm>
            <a:prstGeom prst="rect">
              <a:avLst/>
            </a:prstGeom>
            <a:blipFill dpi="0" rotWithShape="1"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 l="-240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 defTabSz="1371600">
                <a:defRPr/>
              </a:pPr>
              <a:endParaRPr lang="zh-CN" altLang="en-US" sz="2700" kern="0">
                <a:solidFill>
                  <a:prstClr val="white"/>
                </a:solidFill>
                <a:latin typeface="Bebas Neue" panose="020B0606020202050201"/>
                <a:ea typeface="思源黑体 CN Regular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1129688" y="794930"/>
              <a:ext cx="366724" cy="219171"/>
              <a:chOff x="4572962" y="3778259"/>
              <a:chExt cx="394764" cy="235928"/>
            </a:xfrm>
          </p:grpSpPr>
          <p:sp>
            <p:nvSpPr>
              <p:cNvPr id="150" name="矩形 149"/>
              <p:cNvSpPr/>
              <p:nvPr/>
            </p:nvSpPr>
            <p:spPr>
              <a:xfrm>
                <a:off x="4626850" y="3778285"/>
                <a:ext cx="340876" cy="235902"/>
              </a:xfrm>
              <a:prstGeom prst="rect">
                <a:avLst/>
              </a:prstGeom>
              <a:gradFill flip="none" rotWithShape="1">
                <a:gsLst>
                  <a:gs pos="5000">
                    <a:srgbClr val="01738C"/>
                  </a:gs>
                  <a:gs pos="88000">
                    <a:srgbClr val="0F8AC8">
                      <a:alpha val="0"/>
                    </a:srgbClr>
                  </a:gs>
                </a:gsLst>
                <a:lin ang="0" scaled="1"/>
                <a:tileRect/>
              </a:gradFill>
              <a:ln w="3175" cap="flat" cmpd="sng" algn="ctr">
                <a:gradFill>
                  <a:gsLst>
                    <a:gs pos="93000">
                      <a:sysClr val="window" lastClr="FFFFFF"/>
                    </a:gs>
                    <a:gs pos="0">
                      <a:sysClr val="window" lastClr="FFFFFF">
                        <a:alpha val="0"/>
                      </a:sysClr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10800000" scaled="0"/>
                </a:gra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1371600">
                  <a:defRPr/>
                </a:pPr>
                <a:endParaRPr lang="zh-CN" altLang="en-US" sz="2700" kern="0" dirty="0">
                  <a:solidFill>
                    <a:prstClr val="white"/>
                  </a:solidFill>
                  <a:latin typeface="Bebas Neue" panose="020B0606020202050201"/>
                  <a:ea typeface="思源黑体 CN Regular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572962" y="3778259"/>
                <a:ext cx="63020" cy="235865"/>
              </a:xfrm>
              <a:custGeom>
                <a:avLst/>
                <a:gdLst>
                  <a:gd name="connsiteX0" fmla="*/ 0 w 62387"/>
                  <a:gd name="connsiteY0" fmla="*/ 0 h 235865"/>
                  <a:gd name="connsiteX1" fmla="*/ 62387 w 62387"/>
                  <a:gd name="connsiteY1" fmla="*/ 0 h 235865"/>
                  <a:gd name="connsiteX2" fmla="*/ 62387 w 62387"/>
                  <a:gd name="connsiteY2" fmla="*/ 235865 h 235865"/>
                  <a:gd name="connsiteX3" fmla="*/ 0 w 62387"/>
                  <a:gd name="connsiteY3" fmla="*/ 235865 h 235865"/>
                  <a:gd name="connsiteX4" fmla="*/ 12384 w 62387"/>
                  <a:gd name="connsiteY4" fmla="*/ 213049 h 235865"/>
                  <a:gd name="connsiteX5" fmla="*/ 31587 w 62387"/>
                  <a:gd name="connsiteY5" fmla="*/ 117933 h 235865"/>
                  <a:gd name="connsiteX6" fmla="*/ 12384 w 62387"/>
                  <a:gd name="connsiteY6" fmla="*/ 22817 h 235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87" h="235865">
                    <a:moveTo>
                      <a:pt x="0" y="0"/>
                    </a:moveTo>
                    <a:lnTo>
                      <a:pt x="62387" y="0"/>
                    </a:lnTo>
                    <a:lnTo>
                      <a:pt x="62387" y="235865"/>
                    </a:lnTo>
                    <a:lnTo>
                      <a:pt x="0" y="235865"/>
                    </a:lnTo>
                    <a:lnTo>
                      <a:pt x="12384" y="213049"/>
                    </a:lnTo>
                    <a:cubicBezTo>
                      <a:pt x="24750" y="183814"/>
                      <a:pt x="31587" y="151672"/>
                      <a:pt x="31587" y="117933"/>
                    </a:cubicBezTo>
                    <a:cubicBezTo>
                      <a:pt x="31587" y="84194"/>
                      <a:pt x="24750" y="52052"/>
                      <a:pt x="12384" y="22817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4472C4">
                      <a:lumMod val="50000"/>
                    </a:srgbClr>
                  </a:gs>
                  <a:gs pos="100000">
                    <a:srgbClr val="01738C">
                      <a:alpha val="92000"/>
                    </a:srgbClr>
                  </a:gs>
                </a:gsLst>
                <a:lin ang="0" scaled="1"/>
                <a:tileRect/>
              </a:gradFill>
              <a:ln w="3175" cap="flat" cmpd="sng" algn="ctr">
                <a:gradFill>
                  <a:gsLst>
                    <a:gs pos="67000">
                      <a:sysClr val="window" lastClr="FFFFFF"/>
                    </a:gs>
                    <a:gs pos="0">
                      <a:sysClr val="window" lastClr="FFFFFF">
                        <a:alpha val="0"/>
                      </a:sysClr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10800000" scaled="0"/>
                </a:gra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1371600">
                  <a:defRPr/>
                </a:pPr>
                <a:endParaRPr lang="zh-CN" altLang="en-US" sz="2700" kern="0">
                  <a:solidFill>
                    <a:prstClr val="white"/>
                  </a:solidFill>
                  <a:latin typeface="Bebas Neue" panose="020B0606020202050201"/>
                  <a:ea typeface="思源黑体 CN Regular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648117" y="676975"/>
              <a:ext cx="540115" cy="486646"/>
              <a:chOff x="605840" y="676975"/>
              <a:chExt cx="540115" cy="486646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641279" y="676975"/>
                <a:ext cx="504676" cy="455059"/>
                <a:chOff x="3800375" y="3377895"/>
                <a:chExt cx="485635" cy="437889"/>
              </a:xfrm>
            </p:grpSpPr>
            <p:grpSp>
              <p:nvGrpSpPr>
                <p:cNvPr id="126" name="组合 125"/>
                <p:cNvGrpSpPr/>
                <p:nvPr/>
              </p:nvGrpSpPr>
              <p:grpSpPr>
                <a:xfrm>
                  <a:off x="3848130" y="3377895"/>
                  <a:ext cx="437880" cy="437889"/>
                  <a:chOff x="4544154" y="3429000"/>
                  <a:chExt cx="906319" cy="906324"/>
                </a:xfrm>
              </p:grpSpPr>
              <p:grpSp>
                <p:nvGrpSpPr>
                  <p:cNvPr id="133" name="组合 132"/>
                  <p:cNvGrpSpPr/>
                  <p:nvPr/>
                </p:nvGrpSpPr>
                <p:grpSpPr>
                  <a:xfrm>
                    <a:off x="4544154" y="3429000"/>
                    <a:ext cx="906318" cy="906322"/>
                    <a:chOff x="4462170" y="2609038"/>
                    <a:chExt cx="906318" cy="906322"/>
                  </a:xfrm>
                </p:grpSpPr>
                <p:sp>
                  <p:nvSpPr>
                    <p:cNvPr id="142" name="弧形 141"/>
                    <p:cNvSpPr/>
                    <p:nvPr/>
                  </p:nvSpPr>
                  <p:spPr>
                    <a:xfrm>
                      <a:off x="4462170" y="2609038"/>
                      <a:ext cx="906318" cy="906322"/>
                    </a:xfrm>
                    <a:prstGeom prst="arc">
                      <a:avLst>
                        <a:gd name="adj1" fmla="val 3427615"/>
                        <a:gd name="adj2" fmla="val 6743850"/>
                      </a:avLst>
                    </a:prstGeom>
                    <a:noFill/>
                    <a:ln w="3175" cap="flat" cmpd="sng" algn="ctr">
                      <a:gradFill flip="none" rotWithShape="1">
                        <a:gsLst>
                          <a:gs pos="10000">
                            <a:srgbClr val="4472C4"/>
                          </a:gs>
                          <a:gs pos="46000">
                            <a:srgbClr val="1977DE">
                              <a:alpha val="0"/>
                            </a:srgbClr>
                          </a:gs>
                          <a:gs pos="60000">
                            <a:srgbClr val="4472C4">
                              <a:alpha val="0"/>
                            </a:srgbClr>
                          </a:gs>
                          <a:gs pos="100000">
                            <a:sysClr val="window" lastClr="FFFFFF"/>
                          </a:gs>
                          <a:gs pos="0">
                            <a:srgbClr val="4472C4">
                              <a:lumMod val="20000"/>
                              <a:lumOff val="80000"/>
                            </a:srgbClr>
                          </a:gs>
                          <a:gs pos="90000">
                            <a:srgbClr val="4472C4"/>
                          </a:gs>
                        </a:gsLst>
                        <a:lin ang="10800000" scaled="1"/>
                        <a:tileRect/>
                      </a:gra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371600">
                        <a:defRPr/>
                      </a:pPr>
                      <a:endParaRPr lang="zh-CN" altLang="en-US" sz="2700" kern="0" dirty="0">
                        <a:solidFill>
                          <a:prstClr val="white"/>
                        </a:solidFill>
                        <a:latin typeface="Bebas Neue" panose="020B0606020202050201"/>
                        <a:ea typeface="思源黑体 CN Regular"/>
                      </a:endParaRPr>
                    </a:p>
                  </p:txBody>
                </p:sp>
                <p:sp>
                  <p:nvSpPr>
                    <p:cNvPr id="143" name="弧形 142"/>
                    <p:cNvSpPr/>
                    <p:nvPr/>
                  </p:nvSpPr>
                  <p:spPr>
                    <a:xfrm>
                      <a:off x="4462170" y="2609038"/>
                      <a:ext cx="906318" cy="906322"/>
                    </a:xfrm>
                    <a:prstGeom prst="arc">
                      <a:avLst>
                        <a:gd name="adj1" fmla="val 17601981"/>
                        <a:gd name="adj2" fmla="val 18823552"/>
                      </a:avLst>
                    </a:prstGeom>
                    <a:noFill/>
                    <a:ln w="3175" cap="flat" cmpd="sng" algn="ctr">
                      <a:gradFill flip="none" rotWithShape="1">
                        <a:gsLst>
                          <a:gs pos="10000">
                            <a:srgbClr val="4472C4"/>
                          </a:gs>
                          <a:gs pos="40000">
                            <a:srgbClr val="1977DE">
                              <a:alpha val="0"/>
                            </a:srgbClr>
                          </a:gs>
                          <a:gs pos="60000">
                            <a:srgbClr val="4472C4">
                              <a:alpha val="0"/>
                            </a:srgbClr>
                          </a:gs>
                          <a:gs pos="100000">
                            <a:sysClr val="window" lastClr="FFFFFF"/>
                          </a:gs>
                          <a:gs pos="0">
                            <a:srgbClr val="4472C4">
                              <a:lumMod val="20000"/>
                              <a:lumOff val="80000"/>
                            </a:srgbClr>
                          </a:gs>
                          <a:gs pos="90000">
                            <a:srgbClr val="4472C4"/>
                          </a:gs>
                        </a:gsLst>
                        <a:lin ang="10800000" scaled="1"/>
                        <a:tileRect/>
                      </a:gra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371600">
                        <a:defRPr/>
                      </a:pPr>
                      <a:endParaRPr lang="zh-CN" altLang="en-US" sz="2700" kern="0" dirty="0">
                        <a:solidFill>
                          <a:prstClr val="white"/>
                        </a:solidFill>
                        <a:latin typeface="Bebas Neue" panose="020B0606020202050201"/>
                        <a:ea typeface="思源黑体 CN Regular"/>
                      </a:endParaRPr>
                    </a:p>
                  </p:txBody>
                </p:sp>
                <p:sp>
                  <p:nvSpPr>
                    <p:cNvPr id="149" name="弧形 148"/>
                    <p:cNvSpPr/>
                    <p:nvPr/>
                  </p:nvSpPr>
                  <p:spPr>
                    <a:xfrm>
                      <a:off x="4462170" y="2609038"/>
                      <a:ext cx="906318" cy="906322"/>
                    </a:xfrm>
                    <a:prstGeom prst="arc">
                      <a:avLst>
                        <a:gd name="adj1" fmla="val 8857797"/>
                        <a:gd name="adj2" fmla="val 10732828"/>
                      </a:avLst>
                    </a:prstGeom>
                    <a:noFill/>
                    <a:ln w="3175" cap="flat" cmpd="sng" algn="ctr">
                      <a:gradFill flip="none" rotWithShape="1">
                        <a:gsLst>
                          <a:gs pos="0">
                            <a:sysClr val="window" lastClr="FFFFFF"/>
                          </a:gs>
                          <a:gs pos="14000">
                            <a:srgbClr val="4472C4"/>
                          </a:gs>
                          <a:gs pos="56000">
                            <a:srgbClr val="4472C4">
                              <a:alpha val="0"/>
                            </a:srgbClr>
                          </a:gs>
                        </a:gsLst>
                        <a:lin ang="18900000" scaled="1"/>
                        <a:tileRect/>
                      </a:gra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371600">
                        <a:defRPr/>
                      </a:pPr>
                      <a:endParaRPr lang="zh-CN" altLang="en-US" sz="2700" kern="0" dirty="0">
                        <a:solidFill>
                          <a:prstClr val="white"/>
                        </a:solidFill>
                        <a:latin typeface="Bebas Neue" panose="020B0606020202050201"/>
                        <a:ea typeface="思源黑体 CN Regular"/>
                      </a:endParaRPr>
                    </a:p>
                  </p:txBody>
                </p:sp>
              </p:grpSp>
              <p:sp>
                <p:nvSpPr>
                  <p:cNvPr id="134" name="椭圆 133"/>
                  <p:cNvSpPr/>
                  <p:nvPr/>
                </p:nvSpPr>
                <p:spPr>
                  <a:xfrm>
                    <a:off x="4544154" y="3431055"/>
                    <a:ext cx="904241" cy="904244"/>
                  </a:xfrm>
                  <a:prstGeom prst="ellipse">
                    <a:avLst/>
                  </a:prstGeom>
                  <a:blipFill dpi="0" rotWithShape="0">
                    <a:blip r:embed="rId4">
                      <a:alphaModFix amt="60000"/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rcRect/>
                    <a:tile tx="0" ty="0" sx="100000" sy="100000" flip="none" algn="tl"/>
                  </a:blipFill>
                  <a:ln w="3175" cap="flat" cmpd="sng" algn="ctr">
                    <a:gradFill flip="none" rotWithShape="1">
                      <a:gsLst>
                        <a:gs pos="70000">
                          <a:sysClr val="window" lastClr="FFFFFF">
                            <a:alpha val="0"/>
                          </a:sysClr>
                        </a:gs>
                        <a:gs pos="77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 dirty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5" name="椭圆 134"/>
                  <p:cNvSpPr/>
                  <p:nvPr/>
                </p:nvSpPr>
                <p:spPr>
                  <a:xfrm>
                    <a:off x="4544154" y="3431055"/>
                    <a:ext cx="904241" cy="904244"/>
                  </a:xfrm>
                  <a:prstGeom prst="ellipse">
                    <a:avLst/>
                  </a:prstGeom>
                  <a:gradFill flip="none" rotWithShape="1">
                    <a:gsLst>
                      <a:gs pos="76000">
                        <a:srgbClr val="4472C4"/>
                      </a:gs>
                      <a:gs pos="56000">
                        <a:srgbClr val="4472C4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3175" cap="flat" cmpd="sng" algn="ctr">
                    <a:gradFill flip="none" rotWithShape="1">
                      <a:gsLst>
                        <a:gs pos="70000">
                          <a:sysClr val="window" lastClr="FFFFFF">
                            <a:alpha val="0"/>
                          </a:sysClr>
                        </a:gs>
                        <a:gs pos="77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6" name="椭圆 135"/>
                  <p:cNvSpPr/>
                  <p:nvPr/>
                </p:nvSpPr>
                <p:spPr>
                  <a:xfrm>
                    <a:off x="4699227" y="3586166"/>
                    <a:ext cx="594101" cy="594103"/>
                  </a:xfrm>
                  <a:prstGeom prst="ellipse">
                    <a:avLst/>
                  </a:prstGeom>
                  <a:gradFill flip="none" rotWithShape="1">
                    <a:gsLst>
                      <a:gs pos="33000">
                        <a:srgbClr val="4472C4">
                          <a:lumMod val="50000"/>
                        </a:srgbClr>
                      </a:gs>
                      <a:gs pos="96503">
                        <a:srgbClr val="4472C4">
                          <a:lumMod val="20000"/>
                          <a:lumOff val="80000"/>
                        </a:srgbClr>
                      </a:gs>
                      <a:gs pos="71000">
                        <a:srgbClr val="4472C4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 cap="flat" cmpd="sng" algn="ctr">
                    <a:gradFill>
                      <a:gsLst>
                        <a:gs pos="37000">
                          <a:sysClr val="window" lastClr="FFFFFF"/>
                        </a:gs>
                        <a:gs pos="0">
                          <a:sysClr val="window" lastClr="FFFFFF">
                            <a:alpha val="0"/>
                          </a:sysClr>
                        </a:gs>
                        <a:gs pos="100000">
                          <a:sysClr val="window" lastClr="FFFFFF">
                            <a:alpha val="0"/>
                          </a:sysClr>
                        </a:gs>
                      </a:gsLst>
                      <a:lin ang="1080000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1371600">
                      <a:defRPr/>
                    </a:pPr>
                    <a:endParaRPr lang="zh-CN" altLang="en-US" sz="2700" kern="0" dirty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7" name="弧形 136"/>
                  <p:cNvSpPr/>
                  <p:nvPr/>
                </p:nvSpPr>
                <p:spPr>
                  <a:xfrm>
                    <a:off x="4544154" y="3429000"/>
                    <a:ext cx="906318" cy="906322"/>
                  </a:xfrm>
                  <a:prstGeom prst="arc">
                    <a:avLst>
                      <a:gd name="adj1" fmla="val 18796495"/>
                      <a:gd name="adj2" fmla="val 3545919"/>
                    </a:avLst>
                  </a:prstGeom>
                  <a:noFill/>
                  <a:ln w="25400" cap="flat" cmpd="sng" algn="ctr">
                    <a:gradFill>
                      <a:gsLst>
                        <a:gs pos="0">
                          <a:srgbClr val="4472C4"/>
                        </a:gs>
                        <a:gs pos="100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8" name="弧形 137"/>
                  <p:cNvSpPr/>
                  <p:nvPr/>
                </p:nvSpPr>
                <p:spPr>
                  <a:xfrm>
                    <a:off x="4544154" y="3429000"/>
                    <a:ext cx="906318" cy="906322"/>
                  </a:xfrm>
                  <a:prstGeom prst="arc">
                    <a:avLst>
                      <a:gd name="adj1" fmla="val 11496153"/>
                      <a:gd name="adj2" fmla="val 17560056"/>
                    </a:avLst>
                  </a:prstGeom>
                  <a:noFill/>
                  <a:ln w="25400" cap="flat" cmpd="sng" algn="ctr">
                    <a:gradFill>
                      <a:gsLst>
                        <a:gs pos="0">
                          <a:srgbClr val="4472C4"/>
                        </a:gs>
                        <a:gs pos="100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 dirty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9" name="弧形 138"/>
                  <p:cNvSpPr/>
                  <p:nvPr/>
                </p:nvSpPr>
                <p:spPr>
                  <a:xfrm>
                    <a:off x="4544154" y="3429000"/>
                    <a:ext cx="906318" cy="906322"/>
                  </a:xfrm>
                  <a:prstGeom prst="arc">
                    <a:avLst>
                      <a:gd name="adj1" fmla="val 8685786"/>
                      <a:gd name="adj2" fmla="val 10378308"/>
                    </a:avLst>
                  </a:prstGeom>
                  <a:noFill/>
                  <a:ln w="25400" cap="flat" cmpd="sng" algn="ctr">
                    <a:gradFill>
                      <a:gsLst>
                        <a:gs pos="0">
                          <a:srgbClr val="4472C4"/>
                        </a:gs>
                        <a:gs pos="100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40" name="弧形 139"/>
                  <p:cNvSpPr/>
                  <p:nvPr/>
                </p:nvSpPr>
                <p:spPr>
                  <a:xfrm>
                    <a:off x="4544154" y="3429000"/>
                    <a:ext cx="906318" cy="906322"/>
                  </a:xfrm>
                  <a:prstGeom prst="arc">
                    <a:avLst>
                      <a:gd name="adj1" fmla="val 6888857"/>
                      <a:gd name="adj2" fmla="val 8948572"/>
                    </a:avLst>
                  </a:prstGeom>
                  <a:noFill/>
                  <a:ln w="25400" cap="flat" cmpd="sng" algn="ctr">
                    <a:gradFill>
                      <a:gsLst>
                        <a:gs pos="0">
                          <a:srgbClr val="4472C4"/>
                        </a:gs>
                        <a:gs pos="100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 dirty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41" name="弧形 140"/>
                  <p:cNvSpPr/>
                  <p:nvPr/>
                </p:nvSpPr>
                <p:spPr>
                  <a:xfrm>
                    <a:off x="4544156" y="3429002"/>
                    <a:ext cx="906317" cy="906322"/>
                  </a:xfrm>
                  <a:prstGeom prst="arc">
                    <a:avLst>
                      <a:gd name="adj1" fmla="val 5818450"/>
                      <a:gd name="adj2" fmla="val 6464885"/>
                    </a:avLst>
                  </a:prstGeom>
                  <a:noFill/>
                  <a:ln w="25400" cap="flat" cmpd="sng" algn="ctr">
                    <a:gradFill>
                      <a:gsLst>
                        <a:gs pos="0">
                          <a:srgbClr val="4472C4"/>
                        </a:gs>
                        <a:gs pos="100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</p:grpSp>
            <p:sp>
              <p:nvSpPr>
                <p:cNvPr id="127" name="椭圆 126"/>
                <p:cNvSpPr/>
                <p:nvPr/>
              </p:nvSpPr>
              <p:spPr>
                <a:xfrm>
                  <a:off x="4163181" y="3754840"/>
                  <a:ext cx="49707" cy="49707"/>
                </a:xfrm>
                <a:prstGeom prst="ellipse">
                  <a:avLst/>
                </a:prstGeom>
                <a:gradFill flip="none" rotWithShape="1">
                  <a:gsLst>
                    <a:gs pos="33000">
                      <a:srgbClr val="4472C4">
                        <a:lumMod val="50000"/>
                      </a:srgbClr>
                    </a:gs>
                    <a:gs pos="96503">
                      <a:srgbClr val="4472C4">
                        <a:lumMod val="20000"/>
                        <a:lumOff val="80000"/>
                      </a:srgbClr>
                    </a:gs>
                    <a:gs pos="71000">
                      <a:srgbClr val="4472C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3175" cap="flat" cmpd="sng" algn="ctr">
                  <a:gradFill>
                    <a:gsLst>
                      <a:gs pos="37000">
                        <a:sysClr val="window" lastClr="FFFFFF"/>
                      </a:gs>
                      <a:gs pos="0">
                        <a:sysClr val="window" lastClr="FFFFFF">
                          <a:alpha val="0"/>
                        </a:sysClr>
                      </a:gs>
                      <a:gs pos="100000">
                        <a:sysClr val="window" lastClr="FFFFFF">
                          <a:alpha val="0"/>
                        </a:sysClr>
                      </a:gs>
                    </a:gsLst>
                    <a:lin ang="10800000" scaled="0"/>
                  </a:gra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 defTabSz="1371600">
                    <a:defRPr/>
                  </a:pPr>
                  <a:endParaRPr lang="zh-CN" altLang="en-US" sz="2700" kern="0">
                    <a:solidFill>
                      <a:prstClr val="white"/>
                    </a:solidFill>
                    <a:latin typeface="Bebas Neue" panose="020B0606020202050201"/>
                    <a:ea typeface="思源黑体 CN Regular"/>
                  </a:endParaRPr>
                </a:p>
              </p:txBody>
            </p:sp>
            <p:sp>
              <p:nvSpPr>
                <p:cNvPr id="128" name="椭圆 127"/>
                <p:cNvSpPr/>
                <p:nvPr/>
              </p:nvSpPr>
              <p:spPr>
                <a:xfrm>
                  <a:off x="3800375" y="3585948"/>
                  <a:ext cx="102506" cy="102502"/>
                </a:xfrm>
                <a:prstGeom prst="ellipse">
                  <a:avLst/>
                </a:prstGeom>
                <a:gradFill flip="none" rotWithShape="1">
                  <a:gsLst>
                    <a:gs pos="65015">
                      <a:srgbClr val="4472C4"/>
                    </a:gs>
                    <a:gs pos="78000">
                      <a:sysClr val="window" lastClr="FFFFFF"/>
                    </a:gs>
                    <a:gs pos="25000">
                      <a:srgbClr val="4472C4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" cap="flat" cmpd="sng" algn="ctr">
                  <a:gradFill flip="none" rotWithShape="1">
                    <a:gsLst>
                      <a:gs pos="70000">
                        <a:sysClr val="window" lastClr="FFFFFF">
                          <a:alpha val="0"/>
                        </a:sysClr>
                      </a:gs>
                      <a:gs pos="77000">
                        <a:srgbClr val="4472C4">
                          <a:lumMod val="20000"/>
                          <a:lumOff val="80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zh-CN" altLang="en-US" sz="2700" kern="0">
                    <a:solidFill>
                      <a:prstClr val="white"/>
                    </a:solidFill>
                    <a:latin typeface="Bebas Neue" panose="020B0606020202050201"/>
                    <a:ea typeface="思源黑体 CN Regular"/>
                  </a:endParaRPr>
                </a:p>
              </p:txBody>
            </p:sp>
            <p:sp>
              <p:nvSpPr>
                <p:cNvPr id="129" name="椭圆 128"/>
                <p:cNvSpPr/>
                <p:nvPr/>
              </p:nvSpPr>
              <p:spPr>
                <a:xfrm>
                  <a:off x="3817055" y="3602627"/>
                  <a:ext cx="69146" cy="69144"/>
                </a:xfrm>
                <a:prstGeom prst="ellipse">
                  <a:avLst/>
                </a:prstGeom>
                <a:gradFill flip="none" rotWithShape="1">
                  <a:gsLst>
                    <a:gs pos="33000">
                      <a:srgbClr val="4472C4">
                        <a:lumMod val="50000"/>
                      </a:srgbClr>
                    </a:gs>
                    <a:gs pos="96503">
                      <a:srgbClr val="4472C4">
                        <a:lumMod val="20000"/>
                        <a:lumOff val="80000"/>
                      </a:srgbClr>
                    </a:gs>
                    <a:gs pos="71000">
                      <a:srgbClr val="4472C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3175" cap="flat" cmpd="sng" algn="ctr">
                  <a:gradFill>
                    <a:gsLst>
                      <a:gs pos="37000">
                        <a:sysClr val="window" lastClr="FFFFFF"/>
                      </a:gs>
                      <a:gs pos="0">
                        <a:sysClr val="window" lastClr="FFFFFF">
                          <a:alpha val="0"/>
                        </a:sysClr>
                      </a:gs>
                      <a:gs pos="100000">
                        <a:sysClr val="window" lastClr="FFFFFF">
                          <a:alpha val="0"/>
                        </a:sysClr>
                      </a:gs>
                    </a:gsLst>
                    <a:lin ang="10800000" scaled="0"/>
                  </a:gra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 defTabSz="1371600">
                    <a:defRPr/>
                  </a:pPr>
                  <a:endParaRPr lang="zh-CN" altLang="en-US" sz="2700" kern="0">
                    <a:solidFill>
                      <a:prstClr val="white"/>
                    </a:solidFill>
                    <a:latin typeface="Bebas Neue" panose="020B0606020202050201"/>
                    <a:ea typeface="思源黑体 CN Regular"/>
                  </a:endParaRPr>
                </a:p>
              </p:txBody>
            </p:sp>
            <p:grpSp>
              <p:nvGrpSpPr>
                <p:cNvPr id="130" name="组合 129"/>
                <p:cNvGrpSpPr/>
                <p:nvPr/>
              </p:nvGrpSpPr>
              <p:grpSpPr>
                <a:xfrm>
                  <a:off x="4179723" y="3399819"/>
                  <a:ext cx="68580" cy="68578"/>
                  <a:chOff x="4161076" y="3385383"/>
                  <a:chExt cx="102506" cy="102502"/>
                </a:xfrm>
              </p:grpSpPr>
              <p:sp>
                <p:nvSpPr>
                  <p:cNvPr id="131" name="椭圆 130"/>
                  <p:cNvSpPr/>
                  <p:nvPr/>
                </p:nvSpPr>
                <p:spPr>
                  <a:xfrm>
                    <a:off x="4161076" y="3385383"/>
                    <a:ext cx="102506" cy="102502"/>
                  </a:xfrm>
                  <a:prstGeom prst="ellipse">
                    <a:avLst/>
                  </a:prstGeom>
                  <a:gradFill flip="none" rotWithShape="1">
                    <a:gsLst>
                      <a:gs pos="65015">
                        <a:srgbClr val="4472C4"/>
                      </a:gs>
                      <a:gs pos="78000">
                        <a:sysClr val="window" lastClr="FFFFFF"/>
                      </a:gs>
                      <a:gs pos="25000">
                        <a:srgbClr val="4472C4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3175" cap="flat" cmpd="sng" algn="ctr">
                    <a:gradFill flip="none" rotWithShape="1">
                      <a:gsLst>
                        <a:gs pos="70000">
                          <a:sysClr val="window" lastClr="FFFFFF">
                            <a:alpha val="0"/>
                          </a:sysClr>
                        </a:gs>
                        <a:gs pos="77000">
                          <a:srgbClr val="4472C4">
                            <a:lumMod val="20000"/>
                            <a:lumOff val="8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  <p:sp>
                <p:nvSpPr>
                  <p:cNvPr id="132" name="椭圆 131"/>
                  <p:cNvSpPr/>
                  <p:nvPr/>
                </p:nvSpPr>
                <p:spPr>
                  <a:xfrm>
                    <a:off x="4187475" y="3411781"/>
                    <a:ext cx="49707" cy="49706"/>
                  </a:xfrm>
                  <a:prstGeom prst="ellipse">
                    <a:avLst/>
                  </a:prstGeom>
                  <a:gradFill flip="none" rotWithShape="1">
                    <a:gsLst>
                      <a:gs pos="33000">
                        <a:srgbClr val="4472C4">
                          <a:lumMod val="50000"/>
                        </a:srgbClr>
                      </a:gs>
                      <a:gs pos="96503">
                        <a:srgbClr val="4472C4">
                          <a:lumMod val="20000"/>
                          <a:lumOff val="80000"/>
                        </a:srgbClr>
                      </a:gs>
                      <a:gs pos="71000">
                        <a:srgbClr val="4472C4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3175" cap="flat" cmpd="sng" algn="ctr">
                    <a:gradFill>
                      <a:gsLst>
                        <a:gs pos="37000">
                          <a:sysClr val="window" lastClr="FFFFFF"/>
                        </a:gs>
                        <a:gs pos="0">
                          <a:sysClr val="window" lastClr="FFFFFF">
                            <a:alpha val="0"/>
                          </a:sysClr>
                        </a:gs>
                        <a:gs pos="100000">
                          <a:sysClr val="window" lastClr="FFFFFF">
                            <a:alpha val="0"/>
                          </a:sysClr>
                        </a:gs>
                      </a:gsLst>
                      <a:lin ang="10800000" scaled="0"/>
                    </a:gra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1371600">
                      <a:defRPr/>
                    </a:pPr>
                    <a:endParaRPr lang="zh-CN" altLang="en-US" sz="2700" kern="0">
                      <a:solidFill>
                        <a:prstClr val="white"/>
                      </a:solidFill>
                      <a:latin typeface="Bebas Neue" panose="020B0606020202050201"/>
                      <a:ea typeface="思源黑体 CN Regular"/>
                    </a:endParaRPr>
                  </a:p>
                </p:txBody>
              </p:sp>
            </p:grpSp>
          </p:grpSp>
          <p:pic>
            <p:nvPicPr>
              <p:cNvPr id="123" name="图片 122" descr="图片包含 游戏机, 灯光&#10;&#10;描述已自动生成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00000">
                <a:off x="605840" y="856841"/>
                <a:ext cx="181316" cy="181316"/>
              </a:xfrm>
              <a:prstGeom prst="rect">
                <a:avLst/>
              </a:prstGeom>
            </p:spPr>
          </p:pic>
          <p:pic>
            <p:nvPicPr>
              <p:cNvPr id="124" name="图片 123" descr="图片包含 游戏机, 灯光&#10;&#10;描述已自动生成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00000">
                <a:off x="1026854" y="689580"/>
                <a:ext cx="91121" cy="91121"/>
              </a:xfrm>
              <a:prstGeom prst="rect">
                <a:avLst/>
              </a:prstGeom>
            </p:spPr>
          </p:pic>
          <p:pic>
            <p:nvPicPr>
              <p:cNvPr id="125" name="图片 124" descr="图片包含 游戏机, 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00000">
                <a:off x="974711" y="1025963"/>
                <a:ext cx="137660" cy="137658"/>
              </a:xfrm>
              <a:prstGeom prst="rect">
                <a:avLst/>
              </a:prstGeom>
            </p:spPr>
          </p:pic>
        </p:grpSp>
        <p:pic>
          <p:nvPicPr>
            <p:cNvPr id="119" name="图片 118" descr="图片包含 游戏机, 灯光&#10;&#10;描述已自动生成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00000">
              <a:off x="584714" y="528745"/>
              <a:ext cx="750944" cy="750944"/>
            </a:xfrm>
            <a:prstGeom prst="rect">
              <a:avLst/>
            </a:prstGeom>
          </p:spPr>
        </p:pic>
        <p:pic>
          <p:nvPicPr>
            <p:cNvPr id="121" name="图形 120"/>
            <p:cNvPicPr preferRelativeResize="0"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311" y="832952"/>
              <a:ext cx="119749" cy="184880"/>
            </a:xfrm>
            <a:prstGeom prst="rect">
              <a:avLst/>
            </a:prstGeom>
          </p:spPr>
        </p:pic>
      </p:grpSp>
      <p:sp>
        <p:nvSpPr>
          <p:cNvPr id="50" name="文本框 49"/>
          <p:cNvSpPr txBox="1"/>
          <p:nvPr>
            <p:custDataLst>
              <p:tags r:id="rId12"/>
            </p:custDataLst>
          </p:nvPr>
        </p:nvSpPr>
        <p:spPr>
          <a:xfrm>
            <a:off x="1278255" y="405130"/>
            <a:ext cx="3835400" cy="3892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defTabSz="1371600">
              <a:defRPr/>
            </a:pPr>
            <a:r>
              <a:rPr lang="zh-CN" altLang="en-US" sz="2400" dirty="0"/>
              <a:t>北京邮电大学雏雁大赛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353435" y="1113155"/>
            <a:ext cx="5485130" cy="3645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1371600">
              <a:defRPr/>
            </a:pPr>
            <a:r>
              <a:rPr lang="zh-CN" altLang="en-US" sz="20000" b="1" dirty="0">
                <a:gradFill>
                  <a:gsLst>
                    <a:gs pos="71000">
                      <a:srgbClr val="FCC55E"/>
                    </a:gs>
                    <a:gs pos="41000">
                      <a:srgbClr val="FFF8B9"/>
                    </a:gs>
                    <a:gs pos="12000">
                      <a:srgbClr val="FFF8B9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知舆</a:t>
            </a:r>
            <a:endParaRPr lang="zh-CN" altLang="en-US" sz="20000" b="1" dirty="0">
              <a:gradFill>
                <a:gsLst>
                  <a:gs pos="71000">
                    <a:srgbClr val="FCC55E"/>
                  </a:gs>
                  <a:gs pos="41000">
                    <a:srgbClr val="FFF8B9"/>
                  </a:gs>
                  <a:gs pos="12000">
                    <a:srgbClr val="FFF8B9"/>
                  </a:gs>
                </a:gsLst>
                <a:lin ang="27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92425" y="4315460"/>
            <a:ext cx="69430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基于社情的情绪传播与信源分析系统</a:t>
            </a:r>
            <a:endParaRPr lang="zh-CN" altLang="en-US" sz="3200" b="1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黑体" panose="02010609060101010101" charset="-122"/>
              <a:ea typeface="黑体" panose="02010609060101010101" charset="-122"/>
              <a:sym typeface="微软雅黑" panose="020B0503020204020204" charset="-122"/>
            </a:endParaRPr>
          </a:p>
        </p:txBody>
      </p:sp>
      <p:pic>
        <p:nvPicPr>
          <p:cNvPr id="17" name="图片 16" descr="夜空下的树&#10;&#10;低可信度描述已自动生成"/>
          <p:cNvPicPr>
            <a:picLocks noChangeAspect="1"/>
          </p:cNvPicPr>
          <p:nvPr/>
        </p:nvPicPr>
        <p:blipFill rotWithShape="1"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31" b="22831"/>
          <a:stretch>
            <a:fillRect/>
          </a:stretch>
        </p:blipFill>
        <p:spPr>
          <a:xfrm>
            <a:off x="2961277" y="5815306"/>
            <a:ext cx="6805962" cy="569868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54100" y="5543550"/>
            <a:ext cx="3136265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 defTabSz="1371600"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参赛组别：雏雁赛道</a:t>
            </a:r>
            <a:endParaRPr lang="zh-CN" altLang="en-US" sz="2000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40140" y="5551170"/>
            <a:ext cx="213995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1371600"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负责人：</a:t>
            </a:r>
            <a:r>
              <a:rPr lang="zh-CN" altLang="en-US" sz="2000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彭智贤</a:t>
            </a:r>
            <a:endParaRPr lang="zh-CN" altLang="en-US" sz="2000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dist" defTabSz="1371600">
              <a:defRPr/>
            </a:pPr>
            <a:endParaRPr lang="zh-CN" altLang="en-US" sz="2000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25" name="图片 24" descr="夜空下的树&#10;&#10;低可信度描述已自动生成"/>
          <p:cNvPicPr>
            <a:picLocks noChangeAspect="1"/>
          </p:cNvPicPr>
          <p:nvPr/>
        </p:nvPicPr>
        <p:blipFill rotWithShape="1"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31" b="22831"/>
          <a:stretch>
            <a:fillRect/>
          </a:stretch>
        </p:blipFill>
        <p:spPr>
          <a:xfrm>
            <a:off x="-969373" y="5815306"/>
            <a:ext cx="6805962" cy="56986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721225" y="5566410"/>
            <a:ext cx="3160395" cy="392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1371600"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团队名称：知舆技术团队</a:t>
            </a:r>
            <a:endParaRPr lang="zh-CN" altLang="en-US" sz="2000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4" name="图片 3" descr="夜空下的树&#10;&#10;低可信度描述已自动生成"/>
          <p:cNvPicPr>
            <a:picLocks noChangeAspect="1"/>
          </p:cNvPicPr>
          <p:nvPr/>
        </p:nvPicPr>
        <p:blipFill rotWithShape="1"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31" b="22831"/>
          <a:stretch>
            <a:fillRect/>
          </a:stretch>
        </p:blipFill>
        <p:spPr>
          <a:xfrm>
            <a:off x="6494417" y="5815306"/>
            <a:ext cx="6805962" cy="569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项目背景与核心目标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714500"/>
          </a:xfrm>
          <a:prstGeom prst="roundRect">
            <a:avLst>
              <a:gd name="adj" fmla="val 5925"/>
            </a:avLst>
          </a:prstGeom>
          <a:solidFill>
            <a:srgbClr val="3C3C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69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现实挑战：情绪失控与治理之困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BEBF5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社交媒体已成为公众情绪表达的核心场域，情绪传播加速极易引发社会风险事件。传统情绪分析方法难以应对多变的网络语言和深层心理动因，而国家“清朗”行动迫切需要更精准的情绪分析与干预工具。</a:t>
            </a:r>
            <a:endParaRPr lang="en-US" sz="1300" b="0" i="0" u="none" strike="noStrike">
              <a:solidFill>
                <a:srgbClr val="EBEBF5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21405" r="21405"/>
          <a:stretch>
            <a:fillRect/>
          </a:stretch>
        </p:blipFill>
        <p:spPr>
          <a:xfrm>
            <a:off x="762000" y="3556000"/>
            <a:ext cx="2476500" cy="2159000"/>
          </a:xfrm>
          <a:prstGeom prst="roundRect">
            <a:avLst>
              <a:gd name="adj" fmla="val 7058"/>
            </a:avLst>
          </a:prstGeom>
          <a:noFill/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842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案例：邵医生坠楼事件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4340" b="4340"/>
          <a:stretch>
            <a:fillRect/>
          </a:stretch>
        </p:blipFill>
        <p:spPr>
          <a:xfrm>
            <a:off x="3492500" y="3556000"/>
            <a:ext cx="2476500" cy="2159000"/>
          </a:xfrm>
          <a:prstGeom prst="roundRect">
            <a:avLst>
              <a:gd name="adj" fmla="val 7058"/>
            </a:avLst>
          </a:prstGeom>
          <a:noFill/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3492500" y="5842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案例：粉发女孩网暴事件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3C3C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16764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研究目标 · 探索传播规律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BEBF5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探索社交媒体群体情绪传播的动力学规律，建立一套融合社会心理学理论与前沿AI技术的情绪分析与归因模型。</a:t>
            </a:r>
            <a:endParaRPr lang="en-US" sz="1300" b="0" i="0" u="none" strike="noStrike">
              <a:solidFill>
                <a:srgbClr val="EBEBF5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302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3C3C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619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34544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产品目标 · “知舆”智能系统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BEBF5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开发智能预警系统，实现对情绪风险的实时监测与舆论走向预测，并为不同类型的用户提供个性化的心理疏导方案与干预建议。</a:t>
            </a:r>
            <a:endParaRPr lang="en-US" sz="1300" b="0" i="0" u="none" strike="noStrike">
              <a:solidFill>
                <a:srgbClr val="EBEBF5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5080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3C3C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397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52324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社会目标 · 从“管控”到“护航”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BEBF5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推动网络治理从被动的“舆情管控”向主动的科学“情绪护航”转变，既保护个体免受网络暴力伤害，又维护健康的网络社会生态。</a:t>
            </a:r>
            <a:endParaRPr lang="en-US" sz="1300" b="0" i="0" u="none" strike="noStrike">
              <a:solidFill>
                <a:srgbClr val="EBEBF5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市场痛点分析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现有方法的局限性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3200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30480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技术层面 · 维度单一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传统关键词匹配无法识别反语、隐喻及网络黑话，难以捕捉深层语义与复杂情绪。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1275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406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41500" y="4254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理论层面 · 预测不足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缺乏对情绪背后深层社会心理动因（如从众、社会认同）的解读，导致舆情发展预测能力弱。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46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533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应用层面 · 门槛高昂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现有系统多面向政府和大型企业，成本高企，普通用户与中小自媒体难以负担。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用户面临的困境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921000"/>
            <a:ext cx="2349500" cy="1778000"/>
          </a:xfrm>
          <a:prstGeom prst="roundRect">
            <a:avLst>
              <a:gd name="adj" fmla="val 5714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3111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59930" y="3206750"/>
            <a:ext cx="137414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个体用户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信息真假难辨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观点茧房固化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理性思辨缺位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953500" y="2921000"/>
            <a:ext cx="2349500" cy="1778000"/>
          </a:xfrm>
          <a:prstGeom prst="roundRect">
            <a:avLst>
              <a:gd name="adj" fmla="val 5714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05900" y="3111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30734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自媒体用户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缺乏专业公关支持，极易因不当言论导致“人设崩塌”，面临巨大的舆论翻车风险。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4826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5016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4978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企业用户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舆情管理成本高、响应滞后，缺乏精准的预测和决策支持工具。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953500" y="4826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4545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05900" y="5016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525000" y="4978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社交平台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面临海量内容治理压力，急需高效识别恶意行为的工具维护社区生态健康。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目标用户分析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7771" b="7771"/>
          <a:stretch>
            <a:fillRect/>
          </a:stretch>
        </p:blipFill>
        <p:spPr>
          <a:xfrm>
            <a:off x="762000" y="1554480"/>
            <a:ext cx="3048000" cy="4572000"/>
          </a:xfrm>
          <a:prstGeom prst="roundRect">
            <a:avLst>
              <a:gd name="adj" fmla="val 5000"/>
            </a:avLst>
          </a:prstGeom>
          <a:noFill/>
          <a:ln w="254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4191000" y="1651000"/>
            <a:ext cx="3683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4191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4953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中小型自媒体用户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540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情绪扩散的关键节点，需轻量化、可负担的舆论预警与辅助公关工具。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1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案例：游戏主播不当言论危机，可实现事前预警和事中辅助。</a:t>
            </a:r>
            <a:endParaRPr lang="en-US" sz="1200" b="0" i="1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8128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8128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190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个体用户 (学生/网民)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382000" y="2465705"/>
            <a:ext cx="2794000" cy="1106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为个体用户提供信息真伪鉴别与观点对立面分析，助其理性决策，远离谣言与信息茧房。</a:t>
            </a:r>
            <a:endParaRPr lang="en-US" sz="1300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191000" y="4191000"/>
            <a:ext cx="3683000" cy="2159000"/>
          </a:xfrm>
          <a:prstGeom prst="roundRect">
            <a:avLst>
              <a:gd name="adj" fmla="val 470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191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45000" y="444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4953000" y="441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公司企业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4445000" y="5080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赋能企业公关与品牌团队，提供基于数据的舆论走向预测，辅助企业做出科学、快速的危机干预与公关决策。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128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128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382000" y="4445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8890000" y="441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社交平台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8382000" y="5080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提供宏观舆情态势感知能力，助力平台实现恶意情绪行为识别与精准算法干预，共建健康网络生态。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竞品分析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3"/>
          <p:cNvSpPr/>
          <p:nvPr/>
        </p:nvSpPr>
        <p:spPr>
          <a:xfrm>
            <a:off x="762000" y="1460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 AI 舆情监测系统</a:t>
            </a:r>
            <a:endParaRPr lang="en-US" sz="1100"/>
          </a:p>
        </p:txBody>
      </p:sp>
      <p:sp>
        <p:nvSpPr>
          <p:cNvPr id="47" name="AutoShape 4"/>
          <p:cNvSpPr/>
          <p:nvPr>
            <p:custDataLst>
              <p:tags r:id="rId1"/>
            </p:custDataLst>
          </p:nvPr>
        </p:nvSpPr>
        <p:spPr>
          <a:xfrm>
            <a:off x="762000" y="20955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5081" b="5081"/>
          <a:stretch>
            <a:fillRect/>
          </a:stretch>
        </p:blipFill>
        <p:spPr>
          <a:xfrm>
            <a:off x="889000" y="2222500"/>
            <a:ext cx="2413000" cy="1016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9" name="AutoShape 6"/>
          <p:cNvSpPr/>
          <p:nvPr>
            <p:custDataLst>
              <p:tags r:id="rId4"/>
            </p:custDataLst>
          </p:nvPr>
        </p:nvSpPr>
        <p:spPr>
          <a:xfrm>
            <a:off x="889000" y="3365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中科天玑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功能强大但成本高，不适合中小型用户。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7"/>
          <p:cNvSpPr/>
          <p:nvPr>
            <p:custDataLst>
              <p:tags r:id="rId5"/>
            </p:custDataLst>
          </p:nvPr>
        </p:nvSpPr>
        <p:spPr>
          <a:xfrm>
            <a:off x="3683000" y="20955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1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21942" b="21942"/>
          <a:stretch>
            <a:fillRect/>
          </a:stretch>
        </p:blipFill>
        <p:spPr>
          <a:xfrm>
            <a:off x="3810000" y="2222500"/>
            <a:ext cx="2413000" cy="1016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2" name="AutoShape 9"/>
          <p:cNvSpPr/>
          <p:nvPr>
            <p:custDataLst>
              <p:tags r:id="rId8"/>
            </p:custDataLst>
          </p:nvPr>
        </p:nvSpPr>
        <p:spPr>
          <a:xfrm>
            <a:off x="3810000" y="3365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汉玉云瞳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覆盖面广，但关键数据披露有限，存在合规风险。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3" name="AutoShape 10"/>
          <p:cNvSpPr/>
          <p:nvPr>
            <p:custDataLst>
              <p:tags r:id="rId9"/>
            </p:custDataLst>
          </p:nvPr>
        </p:nvSpPr>
        <p:spPr>
          <a:xfrm>
            <a:off x="762000" y="431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4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865" b="12865"/>
          <a:stretch>
            <a:fillRect/>
          </a:stretch>
        </p:blipFill>
        <p:spPr>
          <a:xfrm>
            <a:off x="889000" y="4445000"/>
            <a:ext cx="2413000" cy="1016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AutoShape 12"/>
          <p:cNvSpPr/>
          <p:nvPr>
            <p:custDataLst>
              <p:tags r:id="rId12"/>
            </p:custDataLst>
          </p:nvPr>
        </p:nvSpPr>
        <p:spPr>
          <a:xfrm>
            <a:off x="889000" y="5588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蜜度 V 助手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自动化报告能力强，但生成内容可解释性不足。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6" name="AutoShape 13"/>
          <p:cNvSpPr/>
          <p:nvPr>
            <p:custDataLst>
              <p:tags r:id="rId13"/>
            </p:custDataLst>
          </p:nvPr>
        </p:nvSpPr>
        <p:spPr>
          <a:xfrm>
            <a:off x="3683000" y="431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7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16207" b="16207"/>
          <a:stretch>
            <a:fillRect/>
          </a:stretch>
        </p:blipFill>
        <p:spPr>
          <a:xfrm>
            <a:off x="3810000" y="4445000"/>
            <a:ext cx="2413000" cy="1016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8" name="AutoShape 15"/>
          <p:cNvSpPr/>
          <p:nvPr>
            <p:custDataLst>
              <p:tags r:id="rId16"/>
            </p:custDataLst>
          </p:nvPr>
        </p:nvSpPr>
        <p:spPr>
          <a:xfrm>
            <a:off x="3810000" y="5588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TOOM 舆情监测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产品成熟稳定，但在生成式分析和短视频解析方面创新不足。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9" name="AutoShape 16"/>
          <p:cNvSpPr/>
          <p:nvPr/>
        </p:nvSpPr>
        <p:spPr>
          <a:xfrm>
            <a:off x="6731000" y="2032000"/>
            <a:ext cx="4699000" cy="4381500"/>
          </a:xfrm>
          <a:prstGeom prst="roundRect">
            <a:avLst>
              <a:gd name="adj" fmla="val 3478"/>
            </a:avLst>
          </a:prstGeom>
          <a:solidFill>
            <a:srgbClr val="1E1E20">
              <a:alpha val="100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17"/>
          <p:cNvSpPr/>
          <p:nvPr/>
        </p:nvSpPr>
        <p:spPr>
          <a:xfrm>
            <a:off x="6985000" y="22860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我们的差异化优势</a:t>
            </a:r>
            <a:endParaRPr lang="en-US" sz="1100"/>
          </a:p>
        </p:txBody>
      </p:sp>
      <p:sp>
        <p:nvSpPr>
          <p:cNvPr id="62" name="AutoShape 19"/>
          <p:cNvSpPr/>
          <p:nvPr/>
        </p:nvSpPr>
        <p:spPr>
          <a:xfrm>
            <a:off x="7442835" y="3245485"/>
            <a:ext cx="3556000" cy="23425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用户群体不同：</a:t>
            </a:r>
            <a:r>
              <a:rPr lang="zh-CN" altLang="en-US" sz="12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专注服务个体创作者、自媒体与普通网民，让每个普通人都能拥有舆情守护能力，而非仅服务大机构。</a:t>
            </a:r>
            <a:endParaRPr lang="zh-CN" alt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功能设计不同：</a:t>
            </a:r>
            <a:r>
              <a:rPr lang="zh-CN" altLang="en-US" sz="12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国内首个集成观点对冲分析（正反方比例+代表性评论）与媒体可靠性分级（白名单+辟谣数据）的系统，帮助用户打破信息茧房、识别谣言。</a:t>
            </a:r>
            <a:endParaRPr lang="zh-CN" alt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价格门槛不同：</a:t>
            </a:r>
            <a:r>
              <a:rPr lang="zh-CN" altLang="en-US" sz="12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零成本起步，</a:t>
            </a:r>
            <a:r>
              <a:rPr lang="en-US" altLang="zh-CN" sz="12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VIP</a:t>
            </a:r>
            <a:r>
              <a:rPr lang="zh-CN" altLang="en-US" sz="12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订阅仅面向深度需求，真正实现普惠。</a:t>
            </a:r>
            <a:endParaRPr lang="zh-CN" alt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解决方案——“知舆”系统核心功能概览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事前 · 风险预测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多模态内容识别：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深度分析文本、语音与图像内容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风险概率评估：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基于舆情大模型，精准预测发布后的安全系数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AI辅助修改：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提供优化建议，从源头规避负面舆论风险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35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事中 · 实时监测与预警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动态传播图谱：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全链路追踪传播路径，洞察评论情绪倾向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超前预警系统：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基于异常检测算法，提前6-12小时预警潜在危机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可视化数据看板：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直观呈现关键舆情数据，辅助快速科学决策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 · 干预与修复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AI心理助手“知知”：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提供基于CBT的专业心理安抚与情绪疏导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应对策略建议：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提供高适配公关话术模板与法律救济指引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智能复盘报告：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自动复盘舆情事件，为未来策略优化提供支撑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-693" r="71052" b="68586"/>
          <a:stretch>
            <a:fillRect/>
          </a:stretch>
        </p:blipFill>
        <p:spPr>
          <a:xfrm>
            <a:off x="829310" y="1905000"/>
            <a:ext cx="3167380" cy="17703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r="64760" b="59234"/>
          <a:stretch>
            <a:fillRect/>
          </a:stretch>
        </p:blipFill>
        <p:spPr>
          <a:xfrm>
            <a:off x="4632325" y="1905000"/>
            <a:ext cx="2987040" cy="18224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r="63120" b="52884"/>
          <a:stretch>
            <a:fillRect/>
          </a:stretch>
        </p:blipFill>
        <p:spPr>
          <a:xfrm>
            <a:off x="8376285" y="1904365"/>
            <a:ext cx="2863215" cy="1823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解决方案——“知舆”系统核心功能概览</a:t>
            </a:r>
            <a:endParaRPr lang="en-US" sz="1100"/>
          </a:p>
        </p:txBody>
      </p:sp>
      <p:sp>
        <p:nvSpPr>
          <p:cNvPr id="18" name="AutoShape 3"/>
          <p:cNvSpPr/>
          <p:nvPr/>
        </p:nvSpPr>
        <p:spPr>
          <a:xfrm>
            <a:off x="6417945" y="1865630"/>
            <a:ext cx="5152390" cy="449961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19430" y="1865630"/>
            <a:ext cx="5152390" cy="449961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01825" y="4414520"/>
            <a:ext cx="23355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观点对冲分析</a:t>
            </a:r>
            <a:endParaRPr lang="zh-CN" altLang="en-US" sz="2000" b="1" i="0" u="none" strike="noStrike">
              <a:solidFill>
                <a:srgbClr val="00E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832725" y="503047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25198" b="1955"/>
          <a:stretch>
            <a:fillRect/>
          </a:stretch>
        </p:blipFill>
        <p:spPr>
          <a:xfrm>
            <a:off x="1539875" y="2223770"/>
            <a:ext cx="3006090" cy="2002155"/>
          </a:xfrm>
          <a:prstGeom prst="rect">
            <a:avLst/>
          </a:prstGeom>
        </p:spPr>
      </p:pic>
      <p:pic>
        <p:nvPicPr>
          <p:cNvPr id="1993822568" name="图片 1993822568" descr="e92fc5b328f06a2161af8086ab901542"/>
          <p:cNvPicPr>
            <a:picLocks noChangeAspect="1"/>
          </p:cNvPicPr>
          <p:nvPr/>
        </p:nvPicPr>
        <p:blipFill>
          <a:blip r:embed="rId2"/>
          <a:srcRect r="35816" b="19648"/>
          <a:stretch>
            <a:fillRect/>
          </a:stretch>
        </p:blipFill>
        <p:spPr>
          <a:xfrm>
            <a:off x="7539990" y="2219325"/>
            <a:ext cx="3032760" cy="2003425"/>
          </a:xfrm>
          <a:prstGeom prst="rect">
            <a:avLst/>
          </a:prstGeom>
        </p:spPr>
      </p:pic>
      <p:sp>
        <p:nvSpPr>
          <p:cNvPr id="19" name="AutoShape 5"/>
          <p:cNvSpPr/>
          <p:nvPr/>
        </p:nvSpPr>
        <p:spPr>
          <a:xfrm>
            <a:off x="7832725" y="4414520"/>
            <a:ext cx="23355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信源可靠性分级</a:t>
            </a:r>
            <a:endParaRPr lang="zh-CN" altLang="en-US" sz="2000" b="1" i="0" u="none" strike="noStrike">
              <a:solidFill>
                <a:srgbClr val="00E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624965" y="464947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上传争议视频或文本后，系统联网搜索正反双方观点，统计支持/反对比例，展示代表性评论及来源，并判断是否偏激，辅助用户跳出信息茧房、理性思辨。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7539990" y="458724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输入链接或媒体名称后，系统自动识别来源可信度（可信/中等/存疑/虚假），并附白名单、辟谣记录等证据链，帮助用户快速辨真伪、防谣言。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技术架构与研究方法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核心技术引擎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2349500" cy="1651000"/>
          </a:xfrm>
          <a:prstGeom prst="roundRect">
            <a:avLst>
              <a:gd name="adj" fmla="val 4615"/>
            </a:avLst>
          </a:prstGeom>
          <a:solidFill>
            <a:srgbClr val="4444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692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多模态融合技术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68400" y="3302000"/>
            <a:ext cx="2044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整合文本、图像、语音多维数据，通过跨模态注意力机制实现信息深度融合与理解。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540000"/>
            <a:ext cx="2349500" cy="1651000"/>
          </a:xfrm>
          <a:prstGeom prst="roundRect">
            <a:avLst>
              <a:gd name="adj" fmla="val 4615"/>
            </a:avLst>
          </a:prstGeom>
          <a:solidFill>
            <a:srgbClr val="4444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273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51300" y="2692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自然语言处理(NLP)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44900" y="3302000"/>
            <a:ext cx="2044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运用BERT、GPT-4V等先进预训练模型，精准识别文本中的暗讽隐喻与网络黑话。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2349500" cy="1651000"/>
          </a:xfrm>
          <a:prstGeom prst="roundRect">
            <a:avLst>
              <a:gd name="adj" fmla="val 4615"/>
            </a:avLst>
          </a:prstGeom>
          <a:solidFill>
            <a:srgbClr val="4444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635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74800" y="4597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时间序列预测 (DeepAR)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68400" y="5207000"/>
            <a:ext cx="2044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基于深度学习模型对海量历史数据进行训练，实现对舆情热度与发展趋势的科学预测。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92500" y="4445000"/>
            <a:ext cx="2349500" cy="1651000"/>
          </a:xfrm>
          <a:prstGeom prst="roundRect">
            <a:avLst>
              <a:gd name="adj" fmla="val 4615"/>
            </a:avLst>
          </a:prstGeom>
          <a:solidFill>
            <a:srgbClr val="4444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4900" y="463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51300" y="4597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传播动力学 (SIREGM)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44900" y="5207000"/>
            <a:ext cx="2044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构建改良的传播动力学模型，模拟信息在不同社交圈层中的扩散路径与关键节点。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rcRect l="541" r="541"/>
          <a:stretch>
            <a:fillRect/>
          </a:stretch>
        </p:blipFill>
        <p:spPr>
          <a:xfrm>
            <a:off x="6477000" y="1778000"/>
            <a:ext cx="1143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7747000" y="18415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心理学理论量化支撑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PANAS 正负面情绪、ECS 情绪传染、DASS 抑郁焦虑压力等专业心理量表，对群体心理状态进行科学量化分析。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3175000"/>
            <a:ext cx="4699000" cy="1397000"/>
          </a:xfrm>
          <a:prstGeom prst="roundRect">
            <a:avLst>
              <a:gd name="adj" fmla="val 5454"/>
            </a:avLst>
          </a:prstGeom>
          <a:solidFill>
            <a:srgbClr val="2C2C2E">
              <a:alpha val="8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l="2457" r="2457"/>
          <a:stretch>
            <a:fillRect/>
          </a:stretch>
        </p:blipFill>
        <p:spPr>
          <a:xfrm>
            <a:off x="6604000" y="3365500"/>
            <a:ext cx="4445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826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47625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法律框架与合规性保障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系统设计严格遵循《民法典》《网络安全法》及相关法律法规，在保护用户隐私的同时，为平台运营提供专业合规建议。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系统工作流程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1651000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588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842000" y="1803400"/>
            <a:ext cx="5334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事前 · 风险预防阶段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用户创建内容 → 多模态内容识别 → 心理学模型综合研判 → 风险评估 → 提供修改建议或准予发布</a:t>
            </a:r>
            <a:endParaRPr lang="en-US" sz="13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588000" y="3302000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588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842000" y="3454400"/>
            <a:ext cx="5334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事中 · 实时监测与预警阶段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内容发布 → 实时数据采集 → 动态传播预测 → 触发预警阈值判定 → 发出6-12小时超前预警</a:t>
            </a:r>
            <a:endParaRPr lang="en-US" sz="13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588000" y="4953000"/>
            <a:ext cx="5842000" cy="1397000"/>
          </a:xfrm>
          <a:prstGeom prst="roundRect">
            <a:avLst>
              <a:gd name="adj" fmla="val 7272"/>
            </a:avLst>
          </a:prstGeom>
          <a:solidFill>
            <a:srgbClr val="3C3C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588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842000" y="5105400"/>
            <a:ext cx="5334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事后 · 干预与修复阶段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启动干预机制 → AI助手“知知”介入 → 生成应对策略 → 持续追踪修复效果 → 生成智能复盘报告</a:t>
            </a:r>
            <a:endParaRPr lang="en-US" sz="13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1" descr="17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72703"/>
            <a:ext cx="4479290" cy="2449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3302000" cy="44450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57250" y="3352800"/>
            <a:ext cx="311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心理学量纲驱动的情绪量化与风险加权模型</a:t>
            </a:r>
            <a:endParaRPr lang="en-US"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424561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将心理学量表转化为可计算的六维度情绪分数，并结合内容领域风险加权（政治×1.5，游戏×0.6），实现精准风险预警。</a:t>
            </a:r>
            <a:endParaRPr lang="zh-CN" altLang="en-US" sz="1300" b="0" i="0" u="none" strike="noStrike">
              <a:solidFill>
                <a:srgbClr val="D1D1D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778000"/>
            <a:ext cx="3302000" cy="44450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98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51375" y="33528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观点对冲与媒体可靠性分级一体化引擎</a:t>
            </a:r>
            <a:endParaRPr lang="en-US"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99000" y="424561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国内首个集成观点对冲分析（支持/反对比例+代表性评论）与媒体可靠性评级（白名单+辟谣数据+大模型）的系统，助力用户打破信息茧房。</a:t>
            </a:r>
            <a:endParaRPr lang="zh-CN" altLang="en-US" sz="1300" b="0" i="0" u="none" strike="noStrike">
              <a:solidFill>
                <a:srgbClr val="D1D1D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1778000"/>
            <a:ext cx="3302000" cy="44450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32800" y="2286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382000" y="331216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预警-监测-干预”全链条情绪护航闭环</a:t>
            </a:r>
            <a:endParaRPr lang="en-US"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82000" y="424561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构建事前风险预测、事中舆情追踪、事后心理干预（</a:t>
            </a:r>
            <a:r>
              <a:rPr lang="en-US" altLang="zh-CN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助手“知知”基于</a:t>
            </a:r>
            <a:r>
              <a:rPr lang="en-US" altLang="zh-CN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CBT）</a:t>
            </a:r>
            <a:r>
              <a:rPr lang="zh-CN" alt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的全流程服务，并首创隐私模式，实现从工具到数字伴侣的升级</a:t>
            </a: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D1D1D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设计与应用创新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设计亮点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2095500" y="22225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简约明了的页面设计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以APP为主体，搭配全局悬浮球设计，大幅降低用户操作门槛，体验更流畅。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4445000" y="2032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5778500" y="22225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智能陪伴助手“知知”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以猫头鹰为原型，打造可信赖的拟人化形象，提供有温度的主动心理疏导与陪伴。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128000" y="2032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9461500" y="22225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全平台智能悬浮球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打破应用壁垒，实现跨平台服务接入，无需切换应用，一键即可调用AI情绪分析。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应用创新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270500" cy="1270000"/>
          </a:xfrm>
          <a:prstGeom prst="roundRect">
            <a:avLst>
              <a:gd name="adj" fmla="val 800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651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841500" y="5461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从“群体舆情”到“个体护航”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行业理念的根本转变：将服务重心从宏观的群体舆情监测，下沉到对每一个具体用户的长期、个性化情绪关怀。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59500" y="5334000"/>
            <a:ext cx="5270500" cy="1270000"/>
          </a:xfrm>
          <a:prstGeom prst="roundRect">
            <a:avLst>
              <a:gd name="adj" fmla="val 800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56515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5461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智能化全链条预防机制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构建完整的“事前预警-事中调控-事后修复”的情绪健康闭环，从被动响应转向全天候主动守护。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r="86411" b="42218"/>
          <a:stretch>
            <a:fillRect/>
          </a:stretch>
        </p:blipFill>
        <p:spPr>
          <a:xfrm>
            <a:off x="952500" y="2326640"/>
            <a:ext cx="1028065" cy="1801495"/>
          </a:xfrm>
          <a:prstGeom prst="rect">
            <a:avLst/>
          </a:prstGeom>
        </p:spPr>
      </p:pic>
      <p:pic>
        <p:nvPicPr>
          <p:cNvPr id="21" name="图片 6" descr="9c70c11298c4dcf1f8b0d7cf43588e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4860" y="2658110"/>
            <a:ext cx="1097280" cy="1097280"/>
          </a:xfrm>
          <a:prstGeom prst="rect">
            <a:avLst/>
          </a:prstGeom>
        </p:spPr>
      </p:pic>
      <p:pic>
        <p:nvPicPr>
          <p:cNvPr id="22" name="图片 6" descr="9c70c11298c4dcf1f8b0d7cf43588e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365" y="265811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商业模式创新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556000" cy="15875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587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引流层（免费）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提供单次风险预测等基础服务，降低用户门槛，快速积累种子用户与初始心理数据。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3556000" cy="15875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76200" cy="1587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4925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变现层（VIP订阅）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提供AI心理助手“知知”、心理健康深度分析报告及高风险实时预警等核心价值服务，打造高粘性付费用户群。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5232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拓展层（企业/政府定制）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提供SaaS解决方案，涵盖品牌声誉监测、企业员工EAP心理关怀、校园心理普查等定制化服务。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699000"/>
            <a:ext cx="6604000" cy="1778000"/>
          </a:xfrm>
          <a:prstGeom prst="roundRect">
            <a:avLst>
              <a:gd name="adj" fmla="val 8571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0" y="5016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969000" y="49530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平台生态赋能模式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作为中立的技术与服务提供方，将核心心理分析与风险识别能力标准化封装为API接口，集成至微信、微博、抖音等主流社交及内容平台后台，助力平台提升社区安全与用户体验，实现技术输出与生态共赢。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9" descr="ChatGPT Image 2026年5月10日 09_35_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433" y="1524000"/>
            <a:ext cx="5271135" cy="2966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项目目标与进度安排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项目总周期：7个月（2025年10月 - 2026年4月）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600" b="0" i="0" u="none" strike="noStrike">
                <a:solidFill>
                  <a:srgbClr val="AAAA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第1-2个月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基础奠基与核心验证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06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完成技术栈学习，快速实现最小可行性产品 (MVP) 以验证思路。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搭建极简前端页面，后端打通大模型API实现情感分析接口；完成理论框架定义与合规性初步评估。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600" b="0" i="0" u="none" strike="noStrike">
                <a:solidFill>
                  <a:srgbClr val="AAAA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第3-4个月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模型深化与系统构建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06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基于MVP升级，开发自有微调模型并丰富前端功能，完善系统逻辑。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完成预训练模型微调，开发多标签分类与情感分析模型；上线可视化情绪库并起草相关合规文书。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600" b="0" i="0" u="none" strike="noStrike">
                <a:solidFill>
                  <a:srgbClr val="AAAA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第5-7个月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智能集成、测试与收尾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06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2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实现系统的最终集成与全面测试，确保稳定性，完成项目交付。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集成AI心理助手交互界面，开发舆情预警逻辑；组织多轮用户测试与压力测试，最终撰写并提交结题报告。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项目团队介绍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8313" b="8313"/>
          <a:stretch>
            <a:fillRect/>
          </a:stretch>
        </p:blipFill>
        <p:spPr>
          <a:xfrm>
            <a:off x="762000" y="1524000"/>
            <a:ext cx="3810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4191000"/>
            <a:ext cx="3810000" cy="2159000"/>
          </a:xfrm>
          <a:prstGeom prst="roundRect">
            <a:avLst>
              <a:gd name="adj" fmla="val 7058"/>
            </a:avLst>
          </a:prstGeom>
          <a:solidFill>
            <a:srgbClr val="3A3A3C">
              <a:alpha val="100000"/>
            </a:srgbClr>
          </a:solidFill>
          <a:ln w="254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44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44196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团队核心优势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5080000"/>
            <a:ext cx="342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团队成员具备</a:t>
            </a:r>
            <a:r>
              <a:rPr lang="en-US" sz="1300" b="0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跨学科背景</a:t>
            </a:r>
            <a:r>
              <a:rPr lang="en-US" sz="1300" b="0" i="0" u="none" strike="noStrike">
                <a:solidFill>
                  <a:srgbClr val="D1D1D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，覆盖AI技术、心理学、法律、设计等多个领域，形成了知识互补、能力多元的协作网络，具备将前沿理论与商业实践结合的复合型能力。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1524000"/>
            <a:ext cx="2159000" cy="4826000"/>
          </a:xfrm>
          <a:prstGeom prst="roundRect">
            <a:avLst>
              <a:gd name="adj" fmla="val 7058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953000" y="1524000"/>
            <a:ext cx="2159000" cy="762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3500" y="1905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1879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43500" y="2540000"/>
            <a:ext cx="1778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彭智贤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🏫 国际学院 | 电子信息工程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擅长AI、大数据技术栈。具备全流程项目框架搭建、跨领域资源整合与产品落地能力，主导技术研究、项目统筹与深度数据分析工作。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366000" y="1524000"/>
            <a:ext cx="2159000" cy="4826000"/>
          </a:xfrm>
          <a:prstGeom prst="roundRect">
            <a:avLst>
              <a:gd name="adj" fmla="val 7058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366000" y="1524000"/>
            <a:ext cx="2159000" cy="762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56500" y="1905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001000" y="1879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556500" y="2540000"/>
            <a:ext cx="1778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陈姿璇</a:t>
            </a: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电子信息工程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技术与市场双重视角，负责开发与沟通协作。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张靖涵</a:t>
            </a: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电子信息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数/理/法复合背景，专攻算法分析与论文撰写。</a:t>
            </a:r>
            <a:endParaRPr lang="en-US" sz="11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沈彤</a:t>
            </a: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网络与新媒体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懂心理、懂传播，精准拆解用户心理动机。</a:t>
            </a:r>
            <a:endParaRPr lang="en-US" sz="11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779000" y="1524000"/>
            <a:ext cx="2159000" cy="4826000"/>
          </a:xfrm>
          <a:prstGeom prst="roundRect">
            <a:avLst>
              <a:gd name="adj" fmla="val 7058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779000" y="1524000"/>
            <a:ext cx="2159000" cy="762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 t="17844" b="17844"/>
          <a:stretch>
            <a:fillRect/>
          </a:stretch>
        </p:blipFill>
        <p:spPr>
          <a:xfrm>
            <a:off x="9969500" y="1905000"/>
            <a:ext cx="1778000" cy="1524000"/>
          </a:xfrm>
          <a:prstGeom prst="roundRect">
            <a:avLst>
              <a:gd name="adj" fmla="val 1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9969500" y="3683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祁婷 副研究员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人工智能学院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提供前沿学术与理论指导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5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郭凯 高级工程师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国际学院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把控技术落地与工程实现</a:t>
            </a:r>
            <a:endParaRPr lang="en-US" sz="11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团队分工安排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32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159000" y="18415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彭智贤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项目负责人 &amp; 前端负责人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负责项目整体管理、进度控制、前端开发（Vue.js）及产品可视化设计，确保项目从0到1的高质量落地。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320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0" y="18415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陈姿璇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后端负责人 &amp; 算法优化工程师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主导后端架构设计与核心算法模型的 Fine-tuning，通过社交网络分析技术挖掘数据价值，支撑业务逻辑。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5720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43815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沈彤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心理学负责人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负责构建项目的心理学理论框架，主导专业数据集的标注工作，并开展用户行为与心理研究，提升产品科学性。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572000"/>
            <a:ext cx="812800" cy="812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0" y="43815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张靖涵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法律与合规负责人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全面负责项目数据的合规性审查，制定严谨的用户隐私政策，并进行全流程法律风险评估，筑牢合规底线。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项目已有基础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7148" r="27148"/>
          <a:stretch>
            <a:fillRect/>
          </a:stretch>
        </p:blipFill>
        <p:spPr>
          <a:xfrm>
            <a:off x="952500" y="1714500"/>
            <a:ext cx="1651000" cy="2032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794000" y="177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技术基础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依托成熟的大数据Transformer架构与多模态技术底座。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配备高性能算力（NVIDIA RTX 5070/A100）及 TensorFlow、PyTorch 主流AI开发框架支持。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112000" y="1803400"/>
            <a:ext cx="393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理论基础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融合社会心理学（群体极化、去抑制效应）与媒介环境学的跨学科理论框架。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结合前沿学术成果，系统研究AI大模型在舆论场中的传播机制与潜在影响。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470400"/>
            <a:ext cx="393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法律与合规基础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全面对标《网络安全法》《个人信息保护法》等国家法律法规要求。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已完成内部评估并输出《数据合规与伦理风险初评报告》，确保项目在安全合规的前提下推进。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3A3A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19770" b="19770"/>
          <a:stretch>
            <a:fillRect/>
          </a:stretch>
        </p:blipFill>
        <p:spPr>
          <a:xfrm>
            <a:off x="6413500" y="4381500"/>
            <a:ext cx="1651000" cy="2032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255000" y="444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用户研究基础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完成针对目标受众的产品使用意愿专项问卷调研（样本量 N=69）。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调研数据充分验证了“知舆”平台的核心功能需求与用户痛点，为产品迭代提供有力依据。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3C3C3E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8136" b="28136"/>
          <a:stretch>
            <a:fillRect/>
          </a:stretch>
        </p:blipFill>
        <p:spPr>
          <a:xfrm>
            <a:off x="1016000" y="2032000"/>
            <a:ext cx="2794000" cy="2159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43815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产品成果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508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一款名为“</a:t>
            </a:r>
            <a:r>
              <a:rPr lang="en-US" sz="1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知舆</a:t>
            </a:r>
            <a:r>
              <a:rPr lang="en-US" sz="1400" b="0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”的智能监测与建议APP，实现舆情监测与心理健康建议等核心功能。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3C3C3E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00" y="2032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20828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学术成果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302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产出一份高质量的学术研究报告：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《基于社交媒体大数据的群体情绪传播规律及智能预防和干预系统》</a:t>
            </a:r>
            <a:endParaRPr lang="en-US" sz="13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深入剖析数据特征，总结传播模型，为后续研究奠定理论基础。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3C3C3E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32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20828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潜在价值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0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为网络空间治理提供新的技术思路和实用工具。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0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通过内容科普与监测，切实提升公众的数字素养和心理健康水平。</a:t>
            </a:r>
            <a:endParaRPr lang="en-US" sz="1300" b="0" i="0" u="none" strike="noStrike">
              <a:solidFill>
                <a:srgbClr val="EBEB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300" b="0" i="0" u="none" strike="noStrike">
                <a:solidFill>
                  <a:srgbClr val="EBEB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探索C端与B端相结合的商业模式，具备广阔的市场前景。</a:t>
            </a:r>
            <a:endParaRPr lang="en-US" sz="1300" b="0" i="0" u="none" strike="noStrike">
              <a:solidFill>
                <a:srgbClr val="EBEB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2318" b="12318"/>
          <a:stretch>
            <a:fillRect/>
          </a:stretch>
        </p:blipFill>
        <p:spPr>
          <a:xfrm>
            <a:off x="952500" y="1905000"/>
            <a:ext cx="2921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810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项目总结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本项目旨在通过融合AI技术与社会心理学，深度解决当前社交媒体环境下情绪传播的痛点。为不同需求的用户群体，提供从风险预警、情绪疏导到长期心理支持的全链条闭环服务。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184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00" y="266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跨学科创新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融合心理学量表与领域风险加权，将情绪转化为六维量化分数，实现精准预警。</a:t>
            </a:r>
            <a:endParaRPr lang="zh-CN" alt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3810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深厚技术壁垒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轻量化免费</a:t>
            </a:r>
            <a:r>
              <a:rPr lang="en-US" altLang="zh-CN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</a:t>
            </a:r>
            <a:r>
              <a:rPr lang="zh-CN" alt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应用，搭配可视化</a:t>
            </a:r>
            <a:r>
              <a:rPr lang="en-US" altLang="zh-CN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推理工作流，让每个结论都有据可循。</a:t>
            </a:r>
            <a:endParaRPr lang="zh-CN" alt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495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70500" y="4889500"/>
            <a:ext cx="238633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观点对冲与信源评级一体化</a:t>
            </a:r>
            <a:endParaRPr lang="zh-CN" altLang="en-US" sz="1500" b="1" i="0" u="none" strike="noStrike">
              <a:solidFill>
                <a:srgbClr val="FFFFFF"/>
              </a:solidFill>
              <a:latin typeface="Noto Sans SC" panose="020B0200000000000000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集成观点对冲与信源可靠性分级，帮用户看清正反方比例，识别虚假信息。</a:t>
            </a:r>
            <a:endParaRPr lang="zh-CN" alt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524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3A3A3C">
              <a:alpha val="100000"/>
            </a:srgbClr>
          </a:solidFill>
          <a:ln w="12700" cap="flat" cmpd="sng">
            <a:solidFill>
              <a:srgbClr val="4A4A4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18500" y="184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2540000"/>
            <a:ext cx="2921000" cy="825500"/>
          </a:xfrm>
          <a:prstGeom prst="roundRect">
            <a:avLst>
              <a:gd name="adj" fmla="val 12307"/>
            </a:avLst>
          </a:prstGeom>
          <a:solidFill>
            <a:srgbClr val="4646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45500" y="2667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直播风控扩展</a:t>
            </a:r>
            <a:r>
              <a:rPr lang="en-US" b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</a:t>
            </a:r>
            <a:endParaRPr lang="zh-CN" alt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将多模态情绪识别能力移植至直播场景，实时预警主播情绪失控并强制冷静干预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18500" y="3556000"/>
            <a:ext cx="2921000" cy="825500"/>
          </a:xfrm>
          <a:prstGeom prst="roundRect">
            <a:avLst>
              <a:gd name="adj" fmla="val 12307"/>
            </a:avLst>
          </a:prstGeom>
          <a:solidFill>
            <a:srgbClr val="4646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45500" y="3683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多模态模型升级</a:t>
            </a:r>
            <a:endParaRPr lang="zh-CN" alt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</a:t>
            </a:r>
            <a:r>
              <a:rPr lang="en-US" altLang="zh-CN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Qwen-VL</a:t>
            </a:r>
            <a:r>
              <a:rPr lang="zh-CN" alt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等视觉模型，实现画面微表情与语音语调的深度融合分析。</a:t>
            </a:r>
            <a:endParaRPr lang="zh-CN" alt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318500" y="4572000"/>
            <a:ext cx="2921000" cy="1026160"/>
          </a:xfrm>
          <a:prstGeom prst="roundRect">
            <a:avLst>
              <a:gd name="adj" fmla="val 12307"/>
            </a:avLst>
          </a:prstGeom>
          <a:solidFill>
            <a:srgbClr val="4646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444865" y="4787900"/>
            <a:ext cx="273494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工作流透明化</a:t>
            </a:r>
            <a:endParaRPr lang="zh-CN" alt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altLang="zh-CN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分析过程拆解为可视化节点图，向用户完整展现推理链条，让结论有据可循。</a:t>
            </a:r>
            <a:endParaRPr lang="zh-CN" alt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637915" y="2618105"/>
            <a:ext cx="837184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9600" b="1" i="0" u="none" strike="noStrike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3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4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5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6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7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8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9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0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1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2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3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4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5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6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7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8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19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20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21.xml><?xml version="1.0" encoding="utf-8"?>
<p:tagLst xmlns:p="http://schemas.openxmlformats.org/presentationml/2006/main">
  <p:tag name="KSO_WM_DIAGRAM_VIRTUALLY_FRAME" val="{&quot;height&quot;:370,&quot;left&quot;:330,&quot;top&quot;:130,&quot;width&quot;:570}"/>
</p:tagLst>
</file>

<file path=ppt/tags/tag22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3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4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5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6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7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8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29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30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31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32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33.xml><?xml version="1.0" encoding="utf-8"?>
<p:tagLst xmlns:p="http://schemas.openxmlformats.org/presentationml/2006/main">
  <p:tag name="KSO_WM_DIAGRAM_VIRTUALLY_FRAME" val="{&quot;height&quot;:345,&quot;left&quot;:60,&quot;top&quot;:160,&quot;width&quot;:440}"/>
</p:tagLst>
</file>

<file path=ppt/tags/tag3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9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0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1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2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3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4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ags/tag55.xml><?xml version="1.0" encoding="utf-8"?>
<p:tagLst xmlns:p="http://schemas.openxmlformats.org/presentationml/2006/main">
  <p:tag name="KSO_WM_DIAGRAM_VIRTUALLY_FRAME" val="{&quot;height&quot;:24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4908</Words>
  <Application>WPS 演示</Application>
  <PresentationFormat/>
  <Paragraphs>345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Arial</vt:lpstr>
      <vt:lpstr>Bebas Neue</vt:lpstr>
      <vt:lpstr>思源黑体 CN Regular</vt:lpstr>
      <vt:lpstr>思源黑体 CN Bold</vt:lpstr>
      <vt:lpstr>黑体</vt:lpstr>
      <vt:lpstr>华文中宋</vt:lpstr>
      <vt:lpstr>微软雅黑</vt:lpstr>
      <vt:lpstr>Noto Sans SC</vt:lpstr>
      <vt:lpstr>Segoe Print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818c4dgt</cp:lastModifiedBy>
  <cp:revision>9</cp:revision>
  <dcterms:created xsi:type="dcterms:W3CDTF">2026-05-12T16:16:00Z</dcterms:created>
  <dcterms:modified xsi:type="dcterms:W3CDTF">2026-05-15T04:15:28Z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2685BC55D2FB47A8B99566D9839C41CB_13</vt:lpwstr>
  </property>
</Properties>
</file>